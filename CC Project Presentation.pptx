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1675"/>
  <p:notesSz cx="6858000" cy="9144000"/>
  <p:embeddedFontLst>
    <p:embeddedFont>
      <p:font typeface="Lexend"/>
      <p:regular r:id="rId29"/>
      <p:bold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exen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Lexend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c28cdc4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bc28cdc4d_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bc28cdc4d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dbc28cdc4d_2_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0c489071150b0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10c489071150b0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bc28cdc4d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bc28cdc4d_2_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0c489071150b0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10c489071150b0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0c489071150b0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10c489071150b0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0c489071150b0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10c489071150b0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0c489071150b0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10c489071150b0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0c489071150b0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10c489071150b00_3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bc28cdc4d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bc28cdc4d_2_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0c489071150b0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10c489071150b00_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bc28cdc4d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dbc28cdc4d_2_1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0c489071150b0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10c489071150b00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10c489071150b0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10c489071150b00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0c489071150b0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10c489071150b00_2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bc28cdc4d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dbc28cdc4d_2_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10c489071150b0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10c489071150b00_3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0c489071150b0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10c489071150b00_3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0c489071150b0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10c489071150b00_4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bc28cdc4d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dbc28cdc4d_2_1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10c489071150b0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10c489071150b00_3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bc28cdc4d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dbc28cdc4d_2_1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10c489071150b0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10c489071150b00_4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58368" y="566928"/>
            <a:ext cx="10881360" cy="16459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58368" y="896112"/>
            <a:ext cx="6492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Compiler for a C-Like</a:t>
            </a:r>
            <a:br>
              <a:rPr b="1" i="0" lang="en-US" sz="31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i="0" lang="en-US" sz="31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Language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58368" y="2231120"/>
            <a:ext cx="576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Handwritten Go compiler with visible internal phases, textual VM object code, and a separate runtime.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58375" y="4562838"/>
            <a:ext cx="539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Aqsa Batool 413777</a:t>
            </a:r>
            <a:endParaRPr sz="1800">
              <a:solidFill>
                <a:srgbClr val="60606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Muhammad Hamza 40725</a:t>
            </a:r>
            <a:r>
              <a:rPr b="0" i="0" lang="en-US" sz="18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rgbClr val="60606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Ahmed Mohiuddin Shah 415216</a:t>
            </a:r>
            <a:endParaRPr sz="1800"/>
          </a:p>
        </p:txBody>
      </p:sp>
      <p:sp>
        <p:nvSpPr>
          <p:cNvPr id="88" name="Google Shape;88;p13"/>
          <p:cNvSpPr/>
          <p:nvPr/>
        </p:nvSpPr>
        <p:spPr>
          <a:xfrm>
            <a:off x="6903720" y="987552"/>
            <a:ext cx="4617720" cy="4754880"/>
          </a:xfrm>
          <a:prstGeom prst="rect">
            <a:avLst/>
          </a:prstGeom>
          <a:solidFill>
            <a:srgbClr val="FFFFFF"/>
          </a:solidFill>
          <a:ln cap="flat" cmpd="sng" w="114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205472" y="122529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PROJECT FLOW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7205472" y="1719072"/>
            <a:ext cx="4023360" cy="51206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7205472" y="1719072"/>
            <a:ext cx="27432" cy="512064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351813" y="1728213"/>
            <a:ext cx="376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source.c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351826" y="2042671"/>
            <a:ext cx="376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input program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9198864" y="2249424"/>
            <a:ext cx="13716" cy="237744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7205472" y="2496312"/>
            <a:ext cx="4023360" cy="51206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7205472" y="2496312"/>
            <a:ext cx="27300" cy="5121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3"/>
          <p:cNvGrpSpPr/>
          <p:nvPr/>
        </p:nvGrpSpPr>
        <p:grpSpPr>
          <a:xfrm>
            <a:off x="7351776" y="2538831"/>
            <a:ext cx="3767400" cy="427025"/>
            <a:chOff x="7351776" y="2536655"/>
            <a:chExt cx="3767400" cy="427025"/>
          </a:xfrm>
        </p:grpSpPr>
        <p:sp>
          <p:nvSpPr>
            <p:cNvPr id="98" name="Google Shape;98;p13"/>
            <p:cNvSpPr txBox="1"/>
            <p:nvPr/>
          </p:nvSpPr>
          <p:spPr>
            <a:xfrm>
              <a:off x="7351776" y="2536655"/>
              <a:ext cx="37674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cforge</a:t>
              </a:r>
              <a:endParaRPr/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7351776" y="2809780"/>
              <a:ext cx="3767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606060"/>
                  </a:solidFill>
                  <a:latin typeface="Arial"/>
                  <a:ea typeface="Arial"/>
                  <a:cs typeface="Arial"/>
                  <a:sym typeface="Arial"/>
                </a:rPr>
                <a:t>compile and inspect</a:t>
              </a:r>
              <a:endParaRPr/>
            </a:p>
          </p:txBody>
        </p:sp>
      </p:grpSp>
      <p:sp>
        <p:nvSpPr>
          <p:cNvPr id="100" name="Google Shape;100;p13"/>
          <p:cNvSpPr/>
          <p:nvPr/>
        </p:nvSpPr>
        <p:spPr>
          <a:xfrm>
            <a:off x="9198864" y="3026664"/>
            <a:ext cx="13716" cy="237744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205472" y="3273552"/>
            <a:ext cx="4023360" cy="51206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7205472" y="3273552"/>
            <a:ext cx="27300" cy="5121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13"/>
          <p:cNvGrpSpPr/>
          <p:nvPr/>
        </p:nvGrpSpPr>
        <p:grpSpPr>
          <a:xfrm>
            <a:off x="7351776" y="3306330"/>
            <a:ext cx="3767400" cy="446508"/>
            <a:chOff x="7351776" y="3284670"/>
            <a:chExt cx="3767400" cy="446508"/>
          </a:xfrm>
        </p:grpSpPr>
        <p:sp>
          <p:nvSpPr>
            <p:cNvPr id="104" name="Google Shape;104;p13"/>
            <p:cNvSpPr txBox="1"/>
            <p:nvPr/>
          </p:nvSpPr>
          <p:spPr>
            <a:xfrm>
              <a:off x="7351776" y="3284670"/>
              <a:ext cx="37674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prog.vmo</a:t>
              </a:r>
              <a:endParaRPr/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7351776" y="3577278"/>
              <a:ext cx="3767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606060"/>
                  </a:solidFill>
                  <a:latin typeface="Arial"/>
                  <a:ea typeface="Arial"/>
                  <a:cs typeface="Arial"/>
                  <a:sym typeface="Arial"/>
                </a:rPr>
                <a:t>text object file</a:t>
              </a:r>
              <a:endParaRPr/>
            </a:p>
          </p:txBody>
        </p:sp>
      </p:grpSp>
      <p:sp>
        <p:nvSpPr>
          <p:cNvPr id="106" name="Google Shape;106;p13"/>
          <p:cNvSpPr/>
          <p:nvPr/>
        </p:nvSpPr>
        <p:spPr>
          <a:xfrm>
            <a:off x="9198864" y="3803904"/>
            <a:ext cx="13716" cy="237744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7205472" y="4050791"/>
            <a:ext cx="4023360" cy="51206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7205472" y="4050791"/>
            <a:ext cx="27300" cy="5121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13"/>
          <p:cNvGrpSpPr/>
          <p:nvPr/>
        </p:nvGrpSpPr>
        <p:grpSpPr>
          <a:xfrm>
            <a:off x="7351776" y="4083569"/>
            <a:ext cx="3767400" cy="446508"/>
            <a:chOff x="7351776" y="4071651"/>
            <a:chExt cx="3767400" cy="446508"/>
          </a:xfrm>
        </p:grpSpPr>
        <p:sp>
          <p:nvSpPr>
            <p:cNvPr id="110" name="Google Shape;110;p13"/>
            <p:cNvSpPr txBox="1"/>
            <p:nvPr/>
          </p:nvSpPr>
          <p:spPr>
            <a:xfrm>
              <a:off x="7351776" y="4071651"/>
              <a:ext cx="37674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crun</a:t>
              </a:r>
              <a:endParaRPr/>
            </a:p>
          </p:txBody>
        </p:sp>
        <p:sp>
          <p:nvSpPr>
            <p:cNvPr id="111" name="Google Shape;111;p13"/>
            <p:cNvSpPr txBox="1"/>
            <p:nvPr/>
          </p:nvSpPr>
          <p:spPr>
            <a:xfrm>
              <a:off x="7351776" y="4364259"/>
              <a:ext cx="3767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606060"/>
                  </a:solidFill>
                  <a:latin typeface="Arial"/>
                  <a:ea typeface="Arial"/>
                  <a:cs typeface="Arial"/>
                  <a:sym typeface="Arial"/>
                </a:rPr>
                <a:t>load and execute</a:t>
              </a:r>
              <a:endParaRPr/>
            </a:p>
          </p:txBody>
        </p:sp>
      </p:grpSp>
      <p:sp>
        <p:nvSpPr>
          <p:cNvPr id="112" name="Google Shape;112;p13"/>
          <p:cNvSpPr/>
          <p:nvPr/>
        </p:nvSpPr>
        <p:spPr>
          <a:xfrm>
            <a:off x="9198864" y="4581144"/>
            <a:ext cx="13716" cy="237744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7205472" y="4859244"/>
            <a:ext cx="4023300" cy="5121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7205472" y="4828032"/>
            <a:ext cx="27432" cy="512064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3"/>
          <p:cNvGrpSpPr/>
          <p:nvPr/>
        </p:nvGrpSpPr>
        <p:grpSpPr>
          <a:xfrm>
            <a:off x="7351776" y="4892040"/>
            <a:ext cx="3767400" cy="446508"/>
            <a:chOff x="7351776" y="4956048"/>
            <a:chExt cx="3767400" cy="446508"/>
          </a:xfrm>
        </p:grpSpPr>
        <p:sp>
          <p:nvSpPr>
            <p:cNvPr id="116" name="Google Shape;116;p13"/>
            <p:cNvSpPr txBox="1"/>
            <p:nvPr/>
          </p:nvSpPr>
          <p:spPr>
            <a:xfrm>
              <a:off x="7351776" y="4956048"/>
              <a:ext cx="37674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program output</a:t>
              </a:r>
              <a:endParaRPr/>
            </a:p>
          </p:txBody>
        </p:sp>
        <p:sp>
          <p:nvSpPr>
            <p:cNvPr id="117" name="Google Shape;117;p13"/>
            <p:cNvSpPr txBox="1"/>
            <p:nvPr/>
          </p:nvSpPr>
          <p:spPr>
            <a:xfrm>
              <a:off x="7351776" y="5248656"/>
              <a:ext cx="3767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606060"/>
                  </a:solidFill>
                  <a:latin typeface="Arial"/>
                  <a:ea typeface="Arial"/>
                  <a:cs typeface="Arial"/>
                  <a:sym typeface="Arial"/>
                </a:rPr>
                <a:t>runtime result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 txBox="1"/>
          <p:nvPr/>
        </p:nvSpPr>
        <p:spPr>
          <a:xfrm>
            <a:off x="658368" y="31089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Project in One Minute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10378440" y="164592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658368" y="1783080"/>
            <a:ext cx="10881360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658375" y="2157975"/>
            <a:ext cx="42525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implements a complete compiler pipeline for a defined C-like subset. Each major phase can be inspected directly, and the final output is executed by a separate runtime.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5237575" y="2011675"/>
            <a:ext cx="4303500" cy="2695800"/>
          </a:xfrm>
          <a:prstGeom prst="rect">
            <a:avLst/>
          </a:prstGeom>
          <a:solidFill>
            <a:srgbClr val="F5F5F5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5237575" y="2011675"/>
            <a:ext cx="64200" cy="2695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5402179" y="2139696"/>
            <a:ext cx="149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5402170" y="2608775"/>
            <a:ext cx="36801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303030"/>
                </a:solidFill>
              </a:rPr>
              <a:t>cforge</a:t>
            </a:r>
            <a:r>
              <a:rPr b="0" i="0" lang="en-US" sz="1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>
              <a:solidFill>
                <a:srgbClr val="303030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Font typeface="Arial"/>
              <a:buChar char="○"/>
            </a:pPr>
            <a:r>
              <a:rPr lang="en-US" sz="1800">
                <a:solidFill>
                  <a:srgbClr val="303030"/>
                </a:solidFill>
              </a:rPr>
              <a:t>Compiler</a:t>
            </a:r>
            <a:endParaRPr sz="1800">
              <a:solidFill>
                <a:srgbClr val="303030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Char char="○"/>
            </a:pPr>
            <a:r>
              <a:rPr lang="en-US" sz="1800">
                <a:solidFill>
                  <a:srgbClr val="303030"/>
                </a:solidFill>
              </a:rPr>
              <a:t>Compiles to our custom object code</a:t>
            </a:r>
            <a:endParaRPr sz="1800">
              <a:solidFill>
                <a:srgbClr val="303030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303030"/>
                </a:solidFill>
              </a:rPr>
              <a:t>crun:</a:t>
            </a:r>
            <a:endParaRPr b="1" i="0" sz="1800" u="none" cap="none" strike="noStrike">
              <a:solidFill>
                <a:srgbClr val="303030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Font typeface="Arial"/>
              <a:buChar char="○"/>
            </a:pPr>
            <a:r>
              <a:rPr lang="en-US" sz="1800">
                <a:solidFill>
                  <a:srgbClr val="303030"/>
                </a:solidFill>
              </a:rPr>
              <a:t>Runtime</a:t>
            </a:r>
            <a:r>
              <a:rPr b="0" i="0" lang="en-US" sz="1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executes </a:t>
            </a:r>
            <a:r>
              <a:rPr lang="en-US" sz="1800">
                <a:solidFill>
                  <a:srgbClr val="303030"/>
                </a:solidFill>
              </a:rPr>
              <a:t>the object code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/>
          <p:nvPr/>
        </p:nvSpPr>
        <p:spPr>
          <a:xfrm>
            <a:off x="658368" y="310896"/>
            <a:ext cx="2377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58375" y="621803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Stack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072" y="2324750"/>
            <a:ext cx="5932293" cy="309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9338" y="2324750"/>
            <a:ext cx="2526891" cy="309964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658375" y="2324750"/>
            <a:ext cx="55794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language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L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Golang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Pipeline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L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GNU Make tool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/>
        </p:nvSpPr>
        <p:spPr>
          <a:xfrm>
            <a:off x="658368" y="31089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Implemented Language Subset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58368" y="1353312"/>
            <a:ext cx="7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06060"/>
                </a:solidFill>
              </a:rPr>
              <a:t>Subset</a:t>
            </a:r>
            <a:r>
              <a:rPr lang="en-US" sz="1200">
                <a:solidFill>
                  <a:srgbClr val="606060"/>
                </a:solidFill>
              </a:rPr>
              <a:t> of C with C-Like </a:t>
            </a:r>
            <a:r>
              <a:rPr lang="en-US" sz="1200">
                <a:solidFill>
                  <a:srgbClr val="606060"/>
                </a:solidFill>
              </a:rPr>
              <a:t>syntax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658368" y="1783080"/>
            <a:ext cx="10881360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58376" y="2115975"/>
            <a:ext cx="367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Types and Declarations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58375" y="2727125"/>
            <a:ext cx="5579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Int, char,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float, void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Global, local and block level scopes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1D fixed sized arrays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 arrays and string literals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defined functions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/>
        </p:nvSpPr>
        <p:spPr>
          <a:xfrm>
            <a:off x="658368" y="310896"/>
            <a:ext cx="2377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Implemented Language Subset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58368" y="1353312"/>
            <a:ext cx="7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06060"/>
                </a:solidFill>
              </a:rPr>
              <a:t>Subset of C with C-Like syntax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58376" y="2115975"/>
            <a:ext cx="367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Statements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658375" y="2727125"/>
            <a:ext cx="5579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Statements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else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loop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returns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658368" y="310896"/>
            <a:ext cx="2377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Implemented Language Subset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58368" y="1353312"/>
            <a:ext cx="7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06060"/>
                </a:solidFill>
              </a:rPr>
              <a:t>Subset of C with C-Like syntax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658376" y="2115975"/>
            <a:ext cx="367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Expressions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58375" y="2727125"/>
            <a:ext cx="5579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Literals and identifiers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calls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indexing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Unary “-” and “!”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arithmetic (+, -, /, *, %)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ogical ops (&amp;&amp;, ||, !)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/>
        </p:nvSpPr>
        <p:spPr>
          <a:xfrm>
            <a:off x="658368" y="310896"/>
            <a:ext cx="2377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Implemented Language Subset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658368" y="1353312"/>
            <a:ext cx="7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06060"/>
                </a:solidFill>
              </a:rPr>
              <a:t>Subset of C with C-Like syntax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658375" y="2115975"/>
            <a:ext cx="48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Built-in functions for printing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658375" y="2727125"/>
            <a:ext cx="5579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print_int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print_float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print_char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print_str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print_newline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/>
        </p:nvSpPr>
        <p:spPr>
          <a:xfrm>
            <a:off x="2550888" y="2967300"/>
            <a:ext cx="708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Optional Features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Optional Features</a:t>
            </a:r>
            <a:endParaRPr b="1" sz="3000">
              <a:solidFill>
                <a:srgbClr val="11111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58375" y="2213750"/>
            <a:ext cx="6810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support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Compiler written in Golang instead of C/C++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like runtime support for “write once run everywhere”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/>
        </p:nvSpPr>
        <p:spPr>
          <a:xfrm>
            <a:off x="658368" y="31089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58376" y="621800"/>
            <a:ext cx="91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End-to-End Compilation and Execution Flow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658368" y="1783080"/>
            <a:ext cx="10881360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658368" y="2852928"/>
            <a:ext cx="1883664" cy="10058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58368" y="2852928"/>
            <a:ext cx="27432" cy="100584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804672" y="2980944"/>
            <a:ext cx="162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Lexer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804672" y="3273552"/>
            <a:ext cx="162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token stream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2542032" y="3328416"/>
            <a:ext cx="164592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798064" y="2852928"/>
            <a:ext cx="1883664" cy="10058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2798064" y="2852928"/>
            <a:ext cx="27432" cy="100584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4368" y="2980944"/>
            <a:ext cx="162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Parser + AST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2944368" y="3273552"/>
            <a:ext cx="162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syntax tree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4681728" y="3328416"/>
            <a:ext cx="164592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4937760" y="2852928"/>
            <a:ext cx="1883664" cy="10058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4937760" y="2852928"/>
            <a:ext cx="27432" cy="100584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084064" y="2980944"/>
            <a:ext cx="162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Semantic + IR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5084064" y="3273552"/>
            <a:ext cx="162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validated program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6821424" y="3328416"/>
            <a:ext cx="164592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7077456" y="2852928"/>
            <a:ext cx="1883664" cy="10058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7077456" y="2852928"/>
            <a:ext cx="27432" cy="100584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7223760" y="2980944"/>
            <a:ext cx="162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Object Code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7223760" y="3273552"/>
            <a:ext cx="162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textual .vmo file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8961120" y="3328416"/>
            <a:ext cx="164592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9217152" y="2852928"/>
            <a:ext cx="1883664" cy="10058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9217152" y="2852928"/>
            <a:ext cx="27432" cy="100584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9363456" y="2980944"/>
            <a:ext cx="162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Runtime VM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9363456" y="3273552"/>
            <a:ext cx="162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observed output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658368" y="4590288"/>
            <a:ext cx="4937760" cy="1298448"/>
          </a:xfrm>
          <a:prstGeom prst="rect">
            <a:avLst/>
          </a:prstGeom>
          <a:solidFill>
            <a:srgbClr val="F5F5F5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658368" y="4590288"/>
            <a:ext cx="27432" cy="1298448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822960" y="4700016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Typical commands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22960" y="4956048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./bin/cforge --tokens samples/slice9_run.c</a:t>
            </a:r>
            <a:br>
              <a:rPr b="0" i="0" lang="en-US" sz="12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./bin/cforge --ir samples/slice9_run.c</a:t>
            </a:r>
            <a:br>
              <a:rPr b="0" i="0" lang="en-US" sz="12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./bin/cforge samples/slice9_run.c -o /tmp/program.vmo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5943600" y="46634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The key design decision is visibility: the same source file can be inspected phase by phase and still compiled into runnable object code.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/>
        </p:nvSpPr>
        <p:spPr>
          <a:xfrm>
            <a:off x="4194888" y="2967300"/>
            <a:ext cx="380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Front End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658368" y="31089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FRONT END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Lexer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658368" y="1783080"/>
            <a:ext cx="10881360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658375" y="2157975"/>
            <a:ext cx="7371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Handwritten scanner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Recognize keywords, identifiers, literals, operators and comments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int, float, char and string literals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/>
        </p:nvSpPr>
        <p:spPr>
          <a:xfrm>
            <a:off x="658368" y="310896"/>
            <a:ext cx="2377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FRONT END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Lexer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658375" y="3429000"/>
            <a:ext cx="2951100" cy="166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int main()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print_int(123);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print_newline();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0;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59" name="Google Shape;259;p25"/>
          <p:cNvGrpSpPr/>
          <p:nvPr/>
        </p:nvGrpSpPr>
        <p:grpSpPr>
          <a:xfrm>
            <a:off x="5462475" y="2982600"/>
            <a:ext cx="6077200" cy="2555100"/>
            <a:chOff x="5512250" y="3135300"/>
            <a:chExt cx="6077200" cy="2555100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5512250" y="3135300"/>
              <a:ext cx="2951100" cy="25551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1:1 KW_INT       "int"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1:5 IDENT        "main"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1:9 LPAREN       "("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1:10 RPAREN       ")"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2:1 LBRACE       "{"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3:5 IDENT        "print_int"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3:14 LPAREN       "("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3:15 INT_LIT      "123"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3:18 RPAREN       ")"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3:19 SEMICOLON    ";"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61" name="Google Shape;261;p25"/>
            <p:cNvSpPr txBox="1"/>
            <p:nvPr/>
          </p:nvSpPr>
          <p:spPr>
            <a:xfrm>
              <a:off x="8638350" y="3135300"/>
              <a:ext cx="2951100" cy="25551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4:5 IDENT        "print_newline"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4:18 LPAREN       "("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4:19 RPAREN       ")"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4:20 SEMICOLON    ";"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5:5 KW_RETURN    "return"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5:12 INT_LIT      "0"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5:13 SEMICOLON    ";"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6:1 RBRACE       "}"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7:1 EOF          ""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262" name="Google Shape;262;p25"/>
          <p:cNvCxnSpPr>
            <a:stCxn id="258" idx="3"/>
            <a:endCxn id="260" idx="1"/>
          </p:cNvCxnSpPr>
          <p:nvPr/>
        </p:nvCxnSpPr>
        <p:spPr>
          <a:xfrm>
            <a:off x="3609475" y="4260150"/>
            <a:ext cx="1853100" cy="0"/>
          </a:xfrm>
          <a:prstGeom prst="straightConnector1">
            <a:avLst/>
          </a:prstGeom>
          <a:noFill/>
          <a:ln cap="flat" cmpd="sng" w="38100">
            <a:solidFill>
              <a:srgbClr val="11111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25"/>
          <p:cNvSpPr txBox="1"/>
          <p:nvPr/>
        </p:nvSpPr>
        <p:spPr>
          <a:xfrm>
            <a:off x="658375" y="2051200"/>
            <a:ext cx="114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5462475" y="2051200"/>
            <a:ext cx="157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/>
        </p:nvSpPr>
        <p:spPr>
          <a:xfrm>
            <a:off x="658368" y="310896"/>
            <a:ext cx="2377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FRONT END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Parser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658375" y="2157975"/>
            <a:ext cx="53763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recursive descent parsing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Precedence-based expression parsing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Separates globals from function definitions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Builds explicit AST reused by later phases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" name="Google Shape;274;p26"/>
          <p:cNvGrpSpPr/>
          <p:nvPr/>
        </p:nvGrpSpPr>
        <p:grpSpPr>
          <a:xfrm>
            <a:off x="6873049" y="2311325"/>
            <a:ext cx="4666619" cy="2955300"/>
            <a:chOff x="6421965" y="2690850"/>
            <a:chExt cx="5579410" cy="2955300"/>
          </a:xfrm>
        </p:grpSpPr>
        <p:sp>
          <p:nvSpPr>
            <p:cNvPr id="275" name="Google Shape;275;p26"/>
            <p:cNvSpPr txBox="1"/>
            <p:nvPr/>
          </p:nvSpPr>
          <p:spPr>
            <a:xfrm>
              <a:off x="6421965" y="3244950"/>
              <a:ext cx="5579400" cy="24012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Roboto Mono"/>
                <a:buAutoNum type="arabicPeriod"/>
              </a:pPr>
              <a:r>
                <a:rPr lang="en-US" sz="18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program = { top_decl } EOF</a:t>
              </a:r>
              <a:endParaRPr sz="180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Roboto Mono"/>
                <a:buAutoNum type="arabicPeriod"/>
              </a:pPr>
              <a:r>
                <a:rPr lang="en-US" sz="18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top_decl = var_decl </a:t>
              </a:r>
              <a:endParaRPr sz="180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8288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| function_def</a:t>
              </a:r>
              <a:endParaRPr sz="180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Roboto Mono"/>
                <a:buAutoNum type="arabicPeriod"/>
              </a:pPr>
              <a:r>
                <a:rPr lang="en-US" sz="18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stmt = block </a:t>
              </a:r>
              <a:endParaRPr sz="180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| if_stmt </a:t>
              </a:r>
              <a:endParaRPr sz="180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| while_stmt </a:t>
              </a:r>
              <a:endParaRPr sz="180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| return_stmt </a:t>
              </a:r>
              <a:endParaRPr sz="180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| expr_stmt</a:t>
              </a:r>
              <a:endPara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76" name="Google Shape;276;p26"/>
            <p:cNvSpPr txBox="1"/>
            <p:nvPr/>
          </p:nvSpPr>
          <p:spPr>
            <a:xfrm>
              <a:off x="6421975" y="2690850"/>
              <a:ext cx="5579400" cy="5541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Grammar</a:t>
              </a:r>
              <a:endPara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/>
          <p:nvPr/>
        </p:nvSpPr>
        <p:spPr>
          <a:xfrm>
            <a:off x="658368" y="310896"/>
            <a:ext cx="2377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FRONT END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Parser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/>
          </a:p>
        </p:txBody>
      </p:sp>
      <p:sp>
        <p:nvSpPr>
          <p:cNvPr id="284" name="Google Shape;284;p27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" name="Google Shape;285;p27"/>
          <p:cNvGrpSpPr/>
          <p:nvPr/>
        </p:nvGrpSpPr>
        <p:grpSpPr>
          <a:xfrm>
            <a:off x="655188" y="2496450"/>
            <a:ext cx="10881300" cy="2770500"/>
            <a:chOff x="655188" y="2496450"/>
            <a:chExt cx="10881300" cy="2770500"/>
          </a:xfrm>
        </p:grpSpPr>
        <p:sp>
          <p:nvSpPr>
            <p:cNvPr id="286" name="Google Shape;286;p27"/>
            <p:cNvSpPr txBox="1"/>
            <p:nvPr/>
          </p:nvSpPr>
          <p:spPr>
            <a:xfrm>
              <a:off x="655188" y="3050550"/>
              <a:ext cx="2951100" cy="16623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int main()</a:t>
              </a:r>
              <a:endPara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{</a:t>
              </a:r>
              <a:endPara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print_int(123);</a:t>
              </a:r>
              <a:endPara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print_newline();</a:t>
              </a:r>
              <a:endPara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return 0;</a:t>
              </a:r>
              <a:endPara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87" name="Google Shape;287;p27"/>
            <p:cNvSpPr txBox="1"/>
            <p:nvPr/>
          </p:nvSpPr>
          <p:spPr>
            <a:xfrm>
              <a:off x="5892588" y="2496450"/>
              <a:ext cx="5643900" cy="2770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Program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FuncDecl name=main return=int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Params &lt;empty&gt;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Body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BlockStmt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ExprStmt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CallExpr callee=print_int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IntLiteral value=123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ExprStmt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CallExpr callee=print_newline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ReturnStmt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IntLiteral value=0</a:t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288" name="Google Shape;288;p27"/>
            <p:cNvCxnSpPr>
              <a:stCxn id="286" idx="3"/>
              <a:endCxn id="287" idx="1"/>
            </p:cNvCxnSpPr>
            <p:nvPr/>
          </p:nvCxnSpPr>
          <p:spPr>
            <a:xfrm>
              <a:off x="3606288" y="3881700"/>
              <a:ext cx="22863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Semantic Analysis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  <p:sp>
        <p:nvSpPr>
          <p:cNvPr id="295" name="Google Shape;295;p28"/>
          <p:cNvSpPr/>
          <p:nvPr/>
        </p:nvSpPr>
        <p:spPr>
          <a:xfrm>
            <a:off x="658368" y="1783080"/>
            <a:ext cx="10881360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658375" y="2154750"/>
            <a:ext cx="71586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Global symbol table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Function table for builtins and user code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Stack of local scopes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Lookup: </a:t>
            </a:r>
            <a:endParaRPr sz="3000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inner local → outer local → global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Local shadowing of globals supported</a:t>
            </a:r>
            <a:endParaRPr sz="3000"/>
          </a:p>
        </p:txBody>
      </p:sp>
      <p:sp>
        <p:nvSpPr>
          <p:cNvPr id="297" name="Google Shape;297;p28"/>
          <p:cNvSpPr txBox="1"/>
          <p:nvPr/>
        </p:nvSpPr>
        <p:spPr>
          <a:xfrm>
            <a:off x="658368" y="1202430"/>
            <a:ext cx="813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Scope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303" name="Google Shape;303;p29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658375" y="2154750"/>
            <a:ext cx="7158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Safe widening allowed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char </a:t>
            </a:r>
            <a:r>
              <a:rPr lang="en-US" sz="3000">
                <a:solidFill>
                  <a:schemeClr val="dk1"/>
                </a:solidFill>
              </a:rPr>
              <a:t>→</a:t>
            </a:r>
            <a:r>
              <a:rPr lang="en-US" sz="3000"/>
              <a:t> int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char </a:t>
            </a:r>
            <a:r>
              <a:rPr lang="en-US" sz="3000">
                <a:solidFill>
                  <a:schemeClr val="dk1"/>
                </a:solidFill>
              </a:rPr>
              <a:t>→</a:t>
            </a:r>
            <a:r>
              <a:rPr lang="en-US" sz="3000"/>
              <a:t> float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int </a:t>
            </a:r>
            <a:r>
              <a:rPr lang="en-US" sz="3000">
                <a:solidFill>
                  <a:schemeClr val="dk1"/>
                </a:solidFill>
              </a:rPr>
              <a:t>→</a:t>
            </a:r>
            <a:r>
              <a:rPr lang="en-US" sz="3000"/>
              <a:t> float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Implicit narrowing rejected</a:t>
            </a:r>
            <a:endParaRPr sz="3000"/>
          </a:p>
        </p:txBody>
      </p:sp>
      <p:sp>
        <p:nvSpPr>
          <p:cNvPr id="305" name="Google Shape;305;p29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Semantic Analysis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658368" y="1202430"/>
            <a:ext cx="813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Type conversion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658375" y="2154750"/>
            <a:ext cx="7158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Duplicate declarations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Undeclared identifiers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Wrong arg count or arg type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Invalid initializer or assignment</a:t>
            </a:r>
            <a:endParaRPr sz="3000"/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Global / function name collisions</a:t>
            </a:r>
            <a:endParaRPr sz="3000"/>
          </a:p>
        </p:txBody>
      </p:sp>
      <p:sp>
        <p:nvSpPr>
          <p:cNvPr id="314" name="Google Shape;314;p30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Semantic Analysis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658368" y="1202430"/>
            <a:ext cx="813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Diagnostics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/>
        </p:nvSpPr>
        <p:spPr>
          <a:xfrm>
            <a:off x="4194888" y="2967300"/>
            <a:ext cx="380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Back</a:t>
            </a:r>
            <a:r>
              <a:rPr b="1" lang="en-US" sz="6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 End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2"/>
          <p:cNvSpPr txBox="1"/>
          <p:nvPr/>
        </p:nvSpPr>
        <p:spPr>
          <a:xfrm>
            <a:off x="658368" y="31089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BACK END</a:t>
            </a:r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ntermediate Representation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/>
          </a:p>
        </p:txBody>
      </p:sp>
      <p:sp>
        <p:nvSpPr>
          <p:cNvPr id="328" name="Google Shape;328;p32"/>
          <p:cNvSpPr/>
          <p:nvPr/>
        </p:nvSpPr>
        <p:spPr>
          <a:xfrm>
            <a:off x="658368" y="1783080"/>
            <a:ext cx="10881360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6437325" y="2496376"/>
            <a:ext cx="5102400" cy="2843400"/>
          </a:xfrm>
          <a:prstGeom prst="rect">
            <a:avLst/>
          </a:prstGeom>
          <a:solidFill>
            <a:srgbClr val="F5F5F5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6437325" y="2496376"/>
            <a:ext cx="27300" cy="28434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2"/>
          <p:cNvSpPr txBox="1"/>
          <p:nvPr/>
        </p:nvSpPr>
        <p:spPr>
          <a:xfrm>
            <a:off x="6601910" y="2606109"/>
            <a:ext cx="4827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06060"/>
                </a:solidFill>
              </a:rPr>
              <a:t>IR example</a:t>
            </a:r>
            <a:endParaRPr/>
          </a:p>
        </p:txBody>
      </p:sp>
      <p:sp>
        <p:nvSpPr>
          <p:cNvPr id="332" name="Google Shape;332;p32"/>
          <p:cNvSpPr txBox="1"/>
          <p:nvPr/>
        </p:nvSpPr>
        <p:spPr>
          <a:xfrm>
            <a:off x="6601910" y="2862141"/>
            <a:ext cx="4827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globals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&lt;empty&gt;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endglobals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endinit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func main return=int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params &lt;empty&gt;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push_int 123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call_builtin print_int 1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call_builtin print_newline 0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push_int 0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return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32"/>
          <p:cNvSpPr txBox="1"/>
          <p:nvPr/>
        </p:nvSpPr>
        <p:spPr>
          <a:xfrm>
            <a:off x="658375" y="2344500"/>
            <a:ext cx="5579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proceeding to code gen, we convert our program to IR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here we can potentially implement optimizations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/>
        </p:nvSpPr>
        <p:spPr>
          <a:xfrm>
            <a:off x="658368" y="310896"/>
            <a:ext cx="2377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BACK END</a:t>
            </a:r>
            <a:endParaRPr/>
          </a:p>
        </p:txBody>
      </p:sp>
      <p:sp>
        <p:nvSpPr>
          <p:cNvPr id="339" name="Google Shape;339;p33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Object Cod</a:t>
            </a:r>
            <a:r>
              <a:rPr b="1" lang="en-US" sz="3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b="1" i="0" lang="en-US" sz="30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and Runtime Design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3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</p:txBody>
      </p:sp>
      <p:sp>
        <p:nvSpPr>
          <p:cNvPr id="341" name="Google Shape;341;p33"/>
          <p:cNvSpPr/>
          <p:nvPr/>
        </p:nvSpPr>
        <p:spPr>
          <a:xfrm>
            <a:off x="658368" y="1783080"/>
            <a:ext cx="10881300" cy="138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3"/>
          <p:cNvSpPr txBox="1"/>
          <p:nvPr/>
        </p:nvSpPr>
        <p:spPr>
          <a:xfrm>
            <a:off x="658375" y="2247250"/>
            <a:ext cx="55794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generate code in the form of object code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use our runtime to execute this object code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helps with portability and easier analysis of the code.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6437325" y="2496376"/>
            <a:ext cx="5102400" cy="2843400"/>
          </a:xfrm>
          <a:prstGeom prst="rect">
            <a:avLst/>
          </a:prstGeom>
          <a:solidFill>
            <a:srgbClr val="F5F5F5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3"/>
          <p:cNvSpPr/>
          <p:nvPr/>
        </p:nvSpPr>
        <p:spPr>
          <a:xfrm>
            <a:off x="6437325" y="2496376"/>
            <a:ext cx="27300" cy="284340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3"/>
          <p:cNvSpPr txBox="1"/>
          <p:nvPr/>
        </p:nvSpPr>
        <p:spPr>
          <a:xfrm>
            <a:off x="6601910" y="2606109"/>
            <a:ext cx="4827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06060"/>
                </a:solidFill>
              </a:rPr>
              <a:t>.vmo example</a:t>
            </a:r>
            <a:endParaRPr/>
          </a:p>
        </p:txBody>
      </p:sp>
      <p:sp>
        <p:nvSpPr>
          <p:cNvPr id="346" name="Google Shape;346;p33"/>
          <p:cNvSpPr txBox="1"/>
          <p:nvPr/>
        </p:nvSpPr>
        <p:spPr>
          <a:xfrm>
            <a:off x="6601910" y="2862141"/>
            <a:ext cx="4827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globals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&lt;empty&gt;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endglobals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endinit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func main return=int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params &lt;empty&gt;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PUSH_INT 123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CALL_BUILTIN print_int 1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CALL_BUILTIN print_newline 0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PUSH_INT 0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RET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/>
        </p:nvSpPr>
        <p:spPr>
          <a:xfrm>
            <a:off x="658368" y="31089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DEMONSTRATION</a:t>
            </a:r>
            <a:endParaRPr/>
          </a:p>
        </p:txBody>
      </p:sp>
      <p:sp>
        <p:nvSpPr>
          <p:cNvPr id="352" name="Google Shape;352;p34"/>
          <p:cNvSpPr txBox="1"/>
          <p:nvPr/>
        </p:nvSpPr>
        <p:spPr>
          <a:xfrm>
            <a:off x="658368" y="621792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Representative Program Runs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4"/>
          <p:cNvSpPr txBox="1"/>
          <p:nvPr/>
        </p:nvSpPr>
        <p:spPr>
          <a:xfrm>
            <a:off x="10378440" y="164592"/>
            <a:ext cx="9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DCDC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/>
          </a:p>
        </p:txBody>
      </p:sp>
      <p:sp>
        <p:nvSpPr>
          <p:cNvPr id="354" name="Google Shape;354;p34"/>
          <p:cNvSpPr/>
          <p:nvPr/>
        </p:nvSpPr>
        <p:spPr>
          <a:xfrm>
            <a:off x="658368" y="1783080"/>
            <a:ext cx="10881360" cy="13716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658368" y="2029968"/>
            <a:ext cx="3822191" cy="1975104"/>
          </a:xfrm>
          <a:prstGeom prst="rect">
            <a:avLst/>
          </a:prstGeom>
          <a:solidFill>
            <a:srgbClr val="F5F5F5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34"/>
          <p:cNvSpPr/>
          <p:nvPr/>
        </p:nvSpPr>
        <p:spPr>
          <a:xfrm>
            <a:off x="658368" y="2029968"/>
            <a:ext cx="27432" cy="1975104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34"/>
          <p:cNvSpPr txBox="1"/>
          <p:nvPr/>
        </p:nvSpPr>
        <p:spPr>
          <a:xfrm>
            <a:off x="822960" y="2139696"/>
            <a:ext cx="354787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End-to-end run</a:t>
            </a:r>
            <a:endParaRPr/>
          </a:p>
        </p:txBody>
      </p:sp>
      <p:sp>
        <p:nvSpPr>
          <p:cNvPr id="358" name="Google Shape;358;p34"/>
          <p:cNvSpPr txBox="1"/>
          <p:nvPr/>
        </p:nvSpPr>
        <p:spPr>
          <a:xfrm>
            <a:off x="822960" y="2395728"/>
            <a:ext cx="35478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make run FILE=samples/slice9_run.c OBJ=/tmp/presentation_demo.vmo</a:t>
            </a:r>
            <a:b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b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6.5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4709160" y="2029968"/>
            <a:ext cx="3127248" cy="19751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34"/>
          <p:cNvSpPr/>
          <p:nvPr/>
        </p:nvSpPr>
        <p:spPr>
          <a:xfrm>
            <a:off x="4709160" y="2029968"/>
            <a:ext cx="27432" cy="1975104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34"/>
          <p:cNvSpPr txBox="1"/>
          <p:nvPr/>
        </p:nvSpPr>
        <p:spPr>
          <a:xfrm>
            <a:off x="4873752" y="2139696"/>
            <a:ext cx="28529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Compile only</a:t>
            </a:r>
            <a:endParaRPr/>
          </a:p>
        </p:txBody>
      </p:sp>
      <p:sp>
        <p:nvSpPr>
          <p:cNvPr id="362" name="Google Shape;362;p34"/>
          <p:cNvSpPr txBox="1"/>
          <p:nvPr/>
        </p:nvSpPr>
        <p:spPr>
          <a:xfrm>
            <a:off x="4873752" y="2395728"/>
            <a:ext cx="285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./bin/cforge samples/slice9_run.c -o program.vmo</a:t>
            </a:r>
            <a:b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./bin/crun program.vmo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8065008" y="2029968"/>
            <a:ext cx="3474720" cy="19751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34"/>
          <p:cNvSpPr/>
          <p:nvPr/>
        </p:nvSpPr>
        <p:spPr>
          <a:xfrm>
            <a:off x="8065008" y="2029968"/>
            <a:ext cx="27432" cy="1975104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" name="Google Shape;365;p34"/>
          <p:cNvSpPr txBox="1"/>
          <p:nvPr/>
        </p:nvSpPr>
        <p:spPr>
          <a:xfrm>
            <a:off x="8229600" y="213969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Phase inspection</a:t>
            </a:r>
            <a:endParaRPr/>
          </a:p>
        </p:txBody>
      </p:sp>
      <p:sp>
        <p:nvSpPr>
          <p:cNvPr id="366" name="Google Shape;366;p34"/>
          <p:cNvSpPr txBox="1"/>
          <p:nvPr/>
        </p:nvSpPr>
        <p:spPr>
          <a:xfrm>
            <a:off x="8229600" y="2395728"/>
            <a:ext cx="320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./bin/cforge --tokens file.c</a:t>
            </a:r>
            <a:b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./bin/cforge --ast file.c</a:t>
            </a:r>
            <a:b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./bin/cforge --sema file.c</a:t>
            </a:r>
            <a:b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./bin/cforge --ir file.c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67" name="Google Shape;367;p34"/>
          <p:cNvGrpSpPr/>
          <p:nvPr/>
        </p:nvGrpSpPr>
        <p:grpSpPr>
          <a:xfrm>
            <a:off x="658368" y="4887745"/>
            <a:ext cx="4791600" cy="1408200"/>
            <a:chOff x="658368" y="4315968"/>
            <a:chExt cx="4791600" cy="1408200"/>
          </a:xfrm>
        </p:grpSpPr>
        <p:sp>
          <p:nvSpPr>
            <p:cNvPr id="368" name="Google Shape;368;p34"/>
            <p:cNvSpPr/>
            <p:nvPr/>
          </p:nvSpPr>
          <p:spPr>
            <a:xfrm>
              <a:off x="658368" y="4315968"/>
              <a:ext cx="4791600" cy="1408200"/>
            </a:xfrm>
            <a:prstGeom prst="rect">
              <a:avLst/>
            </a:prstGeom>
            <a:solidFill>
              <a:srgbClr val="F5F5F5"/>
            </a:solidFill>
            <a:ln cap="flat" cmpd="sng" w="10150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658368" y="4315968"/>
              <a:ext cx="27300" cy="1408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34"/>
            <p:cNvSpPr txBox="1"/>
            <p:nvPr/>
          </p:nvSpPr>
          <p:spPr>
            <a:xfrm>
              <a:off x="822960" y="4425696"/>
              <a:ext cx="45171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606060"/>
                  </a:solidFill>
                  <a:latin typeface="Arial"/>
                  <a:ea typeface="Arial"/>
                  <a:cs typeface="Arial"/>
                  <a:sym typeface="Arial"/>
                </a:rPr>
                <a:t>Invalid program example</a:t>
              </a:r>
              <a:endParaRPr/>
            </a:p>
          </p:txBody>
        </p:sp>
        <p:sp>
          <p:nvSpPr>
            <p:cNvPr id="371" name="Google Shape;371;p34"/>
            <p:cNvSpPr txBox="1"/>
            <p:nvPr/>
          </p:nvSpPr>
          <p:spPr>
            <a:xfrm>
              <a:off x="822960" y="4681728"/>
              <a:ext cx="45171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int main() {</a:t>
              </a:r>
              <a:br>
                <a:rPr b="0" i="0" lang="en-US" sz="1200" u="none" cap="none" strike="noStrike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n-US" sz="1200" u="none" cap="none" strike="noStrike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    int x = 2.5;</a:t>
              </a:r>
              <a:br>
                <a:rPr b="0" i="0" lang="en-US" sz="1200" u="none" cap="none" strike="noStrike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n-US" sz="1200" u="none" cap="none" strike="noStrike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x;</a:t>
              </a:r>
              <a:br>
                <a:rPr b="0" i="0" lang="en-US" sz="1200" u="none" cap="none" strike="noStrike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n-US" sz="1200" u="none" cap="none" strike="noStrike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br>
                <a:rPr b="0" i="0" lang="en-US" sz="1200" u="none" cap="none" strike="noStrike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b="0" i="0" lang="en-US" sz="1200" u="none" cap="none" strike="noStrike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semantic: initializer type mismatch for x</a:t>
              </a:r>
              <a:endParaRPr/>
            </a:p>
          </p:txBody>
        </p:sp>
      </p:grpSp>
      <p:grpSp>
        <p:nvGrpSpPr>
          <p:cNvPr id="372" name="Google Shape;372;p34"/>
          <p:cNvGrpSpPr/>
          <p:nvPr/>
        </p:nvGrpSpPr>
        <p:grpSpPr>
          <a:xfrm>
            <a:off x="5918425" y="4819645"/>
            <a:ext cx="5621100" cy="1544400"/>
            <a:chOff x="5918425" y="4315950"/>
            <a:chExt cx="5621100" cy="1544400"/>
          </a:xfrm>
        </p:grpSpPr>
        <p:sp>
          <p:nvSpPr>
            <p:cNvPr id="373" name="Google Shape;373;p34"/>
            <p:cNvSpPr/>
            <p:nvPr/>
          </p:nvSpPr>
          <p:spPr>
            <a:xfrm>
              <a:off x="5918425" y="4315950"/>
              <a:ext cx="5621100" cy="1544400"/>
            </a:xfrm>
            <a:prstGeom prst="rect">
              <a:avLst/>
            </a:prstGeom>
            <a:solidFill>
              <a:srgbClr val="F5F5F5"/>
            </a:solidFill>
            <a:ln cap="flat" cmpd="sng" w="10150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5918425" y="4315950"/>
              <a:ext cx="31500" cy="15444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34"/>
            <p:cNvSpPr txBox="1"/>
            <p:nvPr/>
          </p:nvSpPr>
          <p:spPr>
            <a:xfrm>
              <a:off x="6111509" y="4425685"/>
              <a:ext cx="5298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606060"/>
                  </a:solidFill>
                  <a:latin typeface="Arial"/>
                  <a:ea typeface="Arial"/>
                  <a:cs typeface="Arial"/>
                  <a:sym typeface="Arial"/>
                </a:rPr>
                <a:t>Invalid program example</a:t>
              </a:r>
              <a:endParaRPr/>
            </a:p>
          </p:txBody>
        </p:sp>
        <p:sp>
          <p:nvSpPr>
            <p:cNvPr id="376" name="Google Shape;376;p34"/>
            <p:cNvSpPr txBox="1"/>
            <p:nvPr/>
          </p:nvSpPr>
          <p:spPr>
            <a:xfrm>
              <a:off x="6111509" y="4681717"/>
              <a:ext cx="52989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int main() {</a:t>
              </a:r>
              <a:endParaRPr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    int nums[2];</a:t>
              </a:r>
              <a:endParaRPr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    int x = nums;</a:t>
              </a:r>
              <a:endParaRPr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x;</a:t>
              </a:r>
              <a:endParaRPr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semantic: initializer type mismatch for x at 4:5: want int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/>
          <p:cNvSpPr txBox="1"/>
          <p:nvPr/>
        </p:nvSpPr>
        <p:spPr>
          <a:xfrm>
            <a:off x="3908838" y="2505450"/>
            <a:ext cx="4374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11111"/>
                </a:solidFill>
                <a:latin typeface="Lexend"/>
                <a:ea typeface="Lexend"/>
                <a:cs typeface="Lexend"/>
                <a:sym typeface="Lexend"/>
              </a:rPr>
              <a:t>Demo &amp; Questions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